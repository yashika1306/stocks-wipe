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0"/>
            <a:ext cx="640080" cy="514350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StockSwipe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2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 for Stocks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5603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Yashika Varshney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Jhanvi Damwani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FA690 · Creativity Olympics · May 5,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411480"/>
            <a:ext cx="2743200" cy="4343400"/>
          </a:xfrm>
          <a:prstGeom prst="roundRect">
            <a:avLst>
              <a:gd name="adj" fmla="val 7333"/>
            </a:avLst>
          </a:prstGeom>
          <a:solidFill>
            <a:srgbClr val="1C1B1F"/>
          </a:solidFill>
          <a:ln w="12700">
            <a:solidFill>
              <a:srgbClr val="1C1B1F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70448" y="713232"/>
            <a:ext cx="2340864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70448" y="713232"/>
            <a:ext cx="2340864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752" y="987552"/>
            <a:ext cx="2048256" cy="309067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16752" y="987552"/>
            <a:ext cx="2048256" cy="64008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15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80760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747E"/>
                </a:solidFill>
              </a:rPr>
              <a:t>NVIDIA Corporation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2331720"/>
            <a:ext cx="174567" cy="-80319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5327" y="2251401"/>
            <a:ext cx="174567" cy="32128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9895" y="2283529"/>
            <a:ext cx="174567" cy="-80319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4462" y="2203210"/>
            <a:ext cx="174567" cy="-80319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9029" y="2122891"/>
            <a:ext cx="174567" cy="-64255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53596" y="2058636"/>
            <a:ext cx="174567" cy="-48191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28164" y="2010444"/>
            <a:ext cx="174567" cy="-64255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2731" y="1946189"/>
            <a:ext cx="174567" cy="-64255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77298" y="1881934"/>
            <a:ext cx="174567" cy="-48191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51865" y="1833743"/>
            <a:ext cx="174567" cy="-48191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26433" y="1785551"/>
            <a:ext cx="174567" cy="-48191"/>
          </a:xfrm>
          <a:prstGeom prst="line">
            <a:avLst/>
          </a:prstGeom>
          <a:noFill/>
          <a:ln w="22860">
            <a:solidFill>
              <a:srgbClr val="1E8E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414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</a:rPr>
              <a:t>$134.22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4140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8E3E"/>
                </a:solidFill>
              </a:rPr>
              <a:t>+2.14%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761488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CEEAD6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76148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3E"/>
                </a:solidFill>
              </a:rPr>
              <a:t>Score: 82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80760" y="3127248"/>
            <a:ext cx="1938528" cy="384048"/>
          </a:xfrm>
          <a:prstGeom prst="roundRect">
            <a:avLst>
              <a:gd name="adj" fmla="val 23810"/>
            </a:avLst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12724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BULLISH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92240" y="4160520"/>
            <a:ext cx="713232" cy="82296"/>
          </a:xfrm>
          <a:prstGeom prst="roundRect">
            <a:avLst>
              <a:gd name="adj" fmla="val 55556"/>
            </a:avLst>
          </a:prstGeom>
          <a:solidFill>
            <a:srgbClr val="CAC4D0"/>
          </a:solidFill>
          <a:ln w="12700">
            <a:solidFill>
              <a:srgbClr val="CAC4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7E0EC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9747E"/>
                </a:solidFill>
              </a:rPr>
              <a:t>StockSwipe  ·  Yashika Varshney &amp; Jhanvi Damwani  ·  FA690 Creativity Olympics  ·  May 5,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retail investing is broken — and why we're fixing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606040" cy="35204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6674" y="1115568"/>
            <a:ext cx="2604211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280160"/>
            <a:ext cx="731520" cy="731520"/>
          </a:xfrm>
          <a:prstGeom prst="ellipse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" y="21396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596896"/>
            <a:ext cx="224942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research is complex, jargon-heavy, and inaccessible to most retail investors who lack time or expertise.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2606040" cy="35204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1314" y="1115568"/>
            <a:ext cx="2604211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280160"/>
            <a:ext cx="731520" cy="731520"/>
          </a:xfrm>
          <a:prstGeom prst="ellipse">
            <a:avLst/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64992" y="21396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Interfaces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596896"/>
            <a:ext cx="224942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brokerage apps are designed for professionals — not for the everyday person who wants a simpler entry point.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1115568"/>
            <a:ext cx="2606040" cy="35204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954" y="1115568"/>
            <a:ext cx="2604211" cy="54864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1280160"/>
            <a:ext cx="731520" cy="731520"/>
          </a:xfrm>
          <a:prstGeom prst="ellipse">
            <a:avLst/>
          </a:prstGeom>
          <a:solidFill>
            <a:srgbClr val="C4EEF2"/>
          </a:solidFill>
          <a:ln w="12700">
            <a:solidFill>
              <a:srgbClr val="C4EE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99632" y="21396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596896"/>
            <a:ext cx="224942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show the same stocks to everyone. There's no feedback loop that learns what each investor cares about.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63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73E8"/>
                </a:solidFill>
              </a:rPr>
              <a:t>"Retail investors deserve a smarter, more engaging experience — StockSwipe is our answer."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7E0EC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9747E"/>
                </a:solidFill>
              </a:rPr>
              <a:t>StockSwipe  ·  Yashika Varshney &amp; Jhanvi Damwani  ·  FA690 Creativity Olympics  ·  May 5,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StockSwipe?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mobile-first, ML-powered stock discovery 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148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6674" y="1115568"/>
            <a:ext cx="4112971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63040"/>
            <a:ext cx="713232" cy="713232"/>
          </a:xfrm>
          <a:prstGeom prst="ellipse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63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53312" y="131673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AI-Ranked Cards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16642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</a:rPr>
              <a:t>Each card shows sparkline, composite score, and factor tags at a glance.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41148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6674" y="2852928"/>
            <a:ext cx="4112971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3200400"/>
            <a:ext cx="713232" cy="713232"/>
          </a:xfrm>
          <a:prstGeom prst="ellipse">
            <a:avLst/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004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👆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53312" y="305409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Decide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53312" y="3401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</a:rPr>
              <a:t>Right = Bullish · Left = Pass · Up = Add to paper portfolio.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115568"/>
            <a:ext cx="41148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4354" y="1115568"/>
            <a:ext cx="4112971" cy="54864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463040"/>
            <a:ext cx="713232" cy="713232"/>
          </a:xfrm>
          <a:prstGeom prst="ellipse">
            <a:avLst/>
          </a:prstGeom>
          <a:solidFill>
            <a:srgbClr val="C4EEF2"/>
          </a:solidFill>
          <a:ln w="12700">
            <a:solidFill>
              <a:srgbClr val="C4EE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4630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50992" y="131673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Learns You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50992" y="16642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</a:rPr>
              <a:t>Every swipe trains a personalized model. Feed improves with each decision.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852928"/>
            <a:ext cx="411480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4354" y="2852928"/>
            <a:ext cx="4112971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3200400"/>
            <a:ext cx="713232" cy="713232"/>
          </a:xfrm>
          <a:prstGeom prst="ellipse">
            <a:avLst/>
          </a:prstGeom>
          <a:solidFill>
            <a:srgbClr val="CEEAD6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2004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650992" y="305409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Loop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50992" y="3401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</a:rPr>
              <a:t>Daily streaks, achievement badges, opt-in leaderboards — habit-forming UX.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572000"/>
            <a:ext cx="9144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5720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9747E"/>
                </a:solidFill>
              </a:rPr>
              <a:t>Stack: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7280" y="462686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4626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React Native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130552" y="462686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8700A"/>
          </a:solidFill>
          <a:ln w="12700">
            <a:solidFill>
              <a:srgbClr val="E870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30552" y="4626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FastAPI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63824" y="462686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2185D0"/>
          </a:solidFill>
          <a:ln w="12700">
            <a:solidFill>
              <a:srgbClr val="2185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63824" y="4626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TimescaleDB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97096" y="462686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97096" y="4626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FinBERT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230368" y="462686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4626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Kafka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263640" y="462686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DC382D"/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4626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Redis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296912" y="462686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6912" y="4626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Thompson Sampling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330184" y="462686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30184" y="46268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Polygon.io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7E0EC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9747E"/>
                </a:solidFill>
              </a:rPr>
              <a:t>StockSwipe  ·  Yashika Varshney &amp; Jhanvi Damwani  ·  FA690 Creativity Olympics  ·  May 5,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Generative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AI layers powering StockSwipe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3308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99616"/>
            <a:ext cx="594360" cy="594360"/>
          </a:xfrm>
          <a:prstGeom prst="ellipse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99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129844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Sentiment NLP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1645920"/>
            <a:ext cx="3090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ProsusAI/FinBERT processes 7 days of news headlines, earnings transcripts, and Reddit/StockTwits posts — outputting a rolling sentiment score [-1, +1] per ticker, per day.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1115568"/>
            <a:ext cx="413308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99616"/>
            <a:ext cx="594360" cy="594360"/>
          </a:xfrm>
          <a:prstGeom prst="ellipse">
            <a:avLst/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99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129844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Claude-Assisted Development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1645920"/>
            <a:ext cx="3090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Anthropic's Claude was used throughout the build for code generation, architecture design, database schema, and documentation — drastically compressing the development cycle.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413308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255264"/>
            <a:ext cx="594360" cy="594360"/>
          </a:xfrm>
          <a:prstGeom prst="ellipse">
            <a:avLst/>
          </a:prstGeom>
          <a:solidFill>
            <a:srgbClr val="C4EEF2"/>
          </a:solidFill>
          <a:ln w="12700">
            <a:solidFill>
              <a:srgbClr val="C4EE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255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61872" y="3054096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 Tag Generation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3401568"/>
            <a:ext cx="3090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Tags like "Strong momentum" and "Cheap vs peers" are produced by combining quantitative signals with language generation, making complex ML output human-readable instantly.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81728" y="2871216"/>
            <a:ext cx="413308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255264"/>
            <a:ext cx="594360" cy="594360"/>
          </a:xfrm>
          <a:prstGeom prst="ellipse">
            <a:avLst/>
          </a:prstGeom>
          <a:solidFill>
            <a:srgbClr val="CEEAD6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55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77840" y="3054096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Feed Ranking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3401568"/>
            <a:ext cx="3090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A Thompson sampling bandit model learns each user's factor preferences from swipe behavior and generates a dynamically re-ranked feed — a generative recommendation engine.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7E0EC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9747E"/>
                </a:solidFill>
              </a:rPr>
              <a:t>StockSwipe  ·  Yashika Varshney &amp; Jhanvi Damwani  ·  FA690 Creativity Olympics  ·  May 5,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personalized card queue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2468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2514600"/>
            <a:ext cx="17556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Polygon OHLCV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Simfin Fundamentals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NewsAPI + Reddit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04288" y="2322576"/>
            <a:ext cx="128016" cy="0"/>
          </a:xfrm>
          <a:prstGeom prst="line">
            <a:avLst/>
          </a:prstGeom>
          <a:noFill/>
          <a:ln w="19050">
            <a:solidFill>
              <a:srgbClr val="CAC4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217627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C4D0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50592" y="1078992"/>
            <a:ext cx="2011680" cy="2468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99232" y="1188720"/>
            <a:ext cx="822960" cy="822960"/>
          </a:xfrm>
          <a:prstGeom prst="ellipse">
            <a:avLst/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42032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Signals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78608" y="2514600"/>
            <a:ext cx="17556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Momentum (RSI, MACD)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Value (P/E, EV/EBITDA)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FinBERT Sentiment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2322576"/>
            <a:ext cx="128016" cy="0"/>
          </a:xfrm>
          <a:prstGeom prst="line">
            <a:avLst/>
          </a:prstGeom>
          <a:noFill/>
          <a:ln w="19050">
            <a:solidFill>
              <a:srgbClr val="CAC4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217627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C4D0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26864" y="1078992"/>
            <a:ext cx="2011680" cy="2468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75504" y="1188720"/>
            <a:ext cx="822960" cy="822960"/>
          </a:xfrm>
          <a:prstGeom prst="ellipse">
            <a:avLst/>
          </a:prstGeom>
          <a:solidFill>
            <a:srgbClr val="C4EEF2"/>
          </a:solidFill>
          <a:ln w="12700">
            <a:solidFill>
              <a:srgbClr val="C4EE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18304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514600"/>
            <a:ext cx="17556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Cross-sectional z-score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Linear blend → [0–100]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50 + 25·tanh(raw)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56832" y="2322576"/>
            <a:ext cx="128016" cy="0"/>
          </a:xfrm>
          <a:prstGeom prst="line">
            <a:avLst/>
          </a:prstGeom>
          <a:noFill/>
          <a:ln w="19050">
            <a:solidFill>
              <a:srgbClr val="CAC4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217627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C4D0"/>
                </a:solidFill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03136" y="1078992"/>
            <a:ext cx="2011680" cy="24688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51776" y="1188720"/>
            <a:ext cx="822960" cy="822960"/>
          </a:xfrm>
          <a:prstGeom prst="ellipse">
            <a:avLst/>
          </a:prstGeom>
          <a:solidFill>
            <a:srgbClr val="CEEAD6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94576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514600"/>
            <a:ext cx="17556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Thompson Sampling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Bandit weight update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Activates at 50 swipes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861364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5234" y="3703320"/>
            <a:ext cx="8611819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Feedback Loop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" y="41148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" y="414223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E3E"/>
                </a:solidFill>
              </a:rPr>
              <a:t>Reward Signal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5216" y="435254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30-day return vs SPY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24328" y="41148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34056" y="414223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Hesitation Signal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34056" y="435254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&lt; 500ms = strong conviction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73168" y="41148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414223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Update Rule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82896" y="435254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Thompson Sampling (weekly)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22008" y="41148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31736" y="414223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B83"/>
                </a:solidFill>
              </a:rPr>
              <a:t>Cold Start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31736" y="435254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Global weights → personalise at 50 swipes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7E0EC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9747E"/>
                </a:solidFill>
              </a:rPr>
              <a:t>StockSwipe  ·  Yashika Varshney &amp; Jhanvi Damwani  ·  FA690 Creativity Olympics  ·  May 5,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Walkthrough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screens — clean, intuitive, gamified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051560"/>
            <a:ext cx="2331720" cy="3547872"/>
          </a:xfrm>
          <a:prstGeom prst="roundRect">
            <a:avLst>
              <a:gd name="adj" fmla="val 7059"/>
            </a:avLst>
          </a:prstGeom>
          <a:solidFill>
            <a:srgbClr val="1C1B1F"/>
          </a:solidFill>
          <a:ln w="12700">
            <a:solidFill>
              <a:srgbClr val="1C1B1F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32588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325880"/>
            <a:ext cx="1965960" cy="38404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Swipe Screen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1783080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1911096"/>
            <a:ext cx="128016" cy="12801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17830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ML-ranked stock card stack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" y="2258568"/>
            <a:ext cx="1965960" cy="420624"/>
          </a:xfrm>
          <a:prstGeom prst="rect">
            <a:avLst/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2386584"/>
            <a:ext cx="128016" cy="12801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258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30-day sparkline price chart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" y="2734056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2862072"/>
            <a:ext cx="128016" cy="12801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2734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Composite score badge (0–100)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" y="3209544"/>
            <a:ext cx="1965960" cy="420624"/>
          </a:xfrm>
          <a:prstGeom prst="rect">
            <a:avLst/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3337560"/>
            <a:ext cx="128016" cy="12801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2095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Up to 3 AI factor tags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4672" y="3685032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3813048"/>
            <a:ext cx="128016" cy="12801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36850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Swipe gesture with physics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216152" y="4160520"/>
            <a:ext cx="658368" cy="82296"/>
          </a:xfrm>
          <a:prstGeom prst="roundRect">
            <a:avLst>
              <a:gd name="adj" fmla="val 55556"/>
            </a:avLst>
          </a:prstGeom>
          <a:solidFill>
            <a:srgbClr val="CAC4D0"/>
          </a:solidFill>
          <a:ln w="12700">
            <a:solidFill>
              <a:srgbClr val="CAC4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1051560"/>
            <a:ext cx="2331720" cy="3547872"/>
          </a:xfrm>
          <a:prstGeom prst="roundRect">
            <a:avLst>
              <a:gd name="adj" fmla="val 7059"/>
            </a:avLst>
          </a:prstGeom>
          <a:solidFill>
            <a:srgbClr val="1C1B1F"/>
          </a:solidFill>
          <a:ln w="12700">
            <a:solidFill>
              <a:srgbClr val="1C1B1F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0" y="132588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1325880"/>
            <a:ext cx="1965960" cy="38404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Portfolio Screen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1783080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30752" y="1911096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13632" y="17830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Paper positions tracker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0" y="2258568"/>
            <a:ext cx="1965960" cy="420624"/>
          </a:xfrm>
          <a:prstGeom prst="rect">
            <a:avLst/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30752" y="2386584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13632" y="2258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Total return vs SPY benchmark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0" y="2734056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30752" y="286207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13632" y="2734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Best call / Worst call view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0" y="3209544"/>
            <a:ext cx="1965960" cy="420624"/>
          </a:xfrm>
          <a:prstGeom prst="rect">
            <a:avLst/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30752" y="3337560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13632" y="32095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Hit rate analytics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0" y="3685032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30752" y="3813048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13632" y="36850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Simulated P&amp;L chart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069080" y="4160520"/>
            <a:ext cx="658368" cy="82296"/>
          </a:xfrm>
          <a:prstGeom prst="roundRect">
            <a:avLst>
              <a:gd name="adj" fmla="val 55556"/>
            </a:avLst>
          </a:prstGeom>
          <a:solidFill>
            <a:srgbClr val="CAC4D0"/>
          </a:solidFill>
          <a:ln w="12700">
            <a:solidFill>
              <a:srgbClr val="CAC4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7648" y="1051560"/>
            <a:ext cx="2331720" cy="3547872"/>
          </a:xfrm>
          <a:prstGeom prst="roundRect">
            <a:avLst>
              <a:gd name="adj" fmla="val 7059"/>
            </a:avLst>
          </a:prstGeom>
          <a:solidFill>
            <a:srgbClr val="1C1B1F"/>
          </a:solidFill>
          <a:ln w="12700">
            <a:solidFill>
              <a:srgbClr val="1C1B1F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10528" y="132588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10528" y="1325880"/>
            <a:ext cx="1965960" cy="384048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1325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Leaderboard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10528" y="1783080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0" y="1911096"/>
            <a:ext cx="128016" cy="12801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17830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Opt-in weekly rankings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10528" y="2258568"/>
            <a:ext cx="1965960" cy="420624"/>
          </a:xfrm>
          <a:prstGeom prst="rect">
            <a:avLst/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0" y="2386584"/>
            <a:ext cx="128016" cy="12801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0" y="2258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Sorted by portfolio return 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510528" y="2734056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83680" y="2862072"/>
            <a:ext cx="128016" cy="12801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2734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Weekly automatic reset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510528" y="3209544"/>
            <a:ext cx="1965960" cy="420624"/>
          </a:xfrm>
          <a:prstGeom prst="rect">
            <a:avLst/>
          </a:prstGeom>
          <a:solidFill>
            <a:srgbClr val="F8F9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83680" y="3337560"/>
            <a:ext cx="128016" cy="12801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66560" y="32095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Daily streak counter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510528" y="3685032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83680" y="3813048"/>
            <a:ext cx="128016" cy="128016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36850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454F"/>
                </a:solidFill>
              </a:rPr>
              <a:t>Achievement badge display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922008" y="4160520"/>
            <a:ext cx="658368" cy="82296"/>
          </a:xfrm>
          <a:prstGeom prst="roundRect">
            <a:avLst>
              <a:gd name="adj" fmla="val 55556"/>
            </a:avLst>
          </a:prstGeom>
          <a:solidFill>
            <a:srgbClr val="CAC4D0"/>
          </a:solidFill>
          <a:ln w="12700">
            <a:solidFill>
              <a:srgbClr val="CAC4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0" y="4663440"/>
            <a:ext cx="9144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663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9747E"/>
                </a:solidFill>
              </a:rPr>
              <a:t>Swipe Mechanics: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874520" y="4700016"/>
            <a:ext cx="2240280" cy="219456"/>
          </a:xfrm>
          <a:prstGeom prst="roundRect">
            <a:avLst>
              <a:gd name="adj" fmla="val 50000"/>
            </a:avLst>
          </a:prstGeom>
          <a:solidFill>
            <a:srgbClr val="CEEAD6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74520" y="47000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3E"/>
                </a:solidFill>
              </a:rPr>
              <a:t>RIGHT →  BULLISH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251960" y="4700016"/>
            <a:ext cx="2240280" cy="219456"/>
          </a:xfrm>
          <a:prstGeom prst="roundRect">
            <a:avLst>
              <a:gd name="adj" fmla="val 50000"/>
            </a:avLst>
          </a:prstGeom>
          <a:solidFill>
            <a:srgbClr val="FAD2CF"/>
          </a:solidFill>
          <a:ln w="12700">
            <a:solidFill>
              <a:srgbClr val="FAD2C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51960" y="47000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3025"/>
                </a:solidFill>
              </a:rPr>
              <a:t>← LEFT  PASS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629400" y="4700016"/>
            <a:ext cx="2240280" cy="219456"/>
          </a:xfrm>
          <a:prstGeom prst="roundRect">
            <a:avLst>
              <a:gd name="adj" fmla="val 50000"/>
            </a:avLst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29400" y="470001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3E8"/>
                </a:solidFill>
              </a:rPr>
              <a:t>↑  UP  PORTFOLIO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7E0EC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9747E"/>
                </a:solidFill>
              </a:rPr>
              <a:t>StockSwipe  ·  Yashika Varshney &amp; Jhanvi Damwani  ·  FA690 Creativity Olympics  ·  May 5,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Product KPIs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investing habitual — then measurable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Badges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4133088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481328"/>
            <a:ext cx="475488" cy="475488"/>
          </a:xfrm>
          <a:prstGeom prst="ellipse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2416" y="148132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</a:rPr>
              <a:t>Daily Streak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" y="1737360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54F"/>
                </a:solidFill>
              </a:rPr>
              <a:t>Swipe 5+ cards/day — builds your flame counter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76272"/>
            <a:ext cx="4133088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231136"/>
            <a:ext cx="475488" cy="475488"/>
          </a:xfrm>
          <a:prstGeom prst="ellipse">
            <a:avLst/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2416" y="223113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</a:rPr>
              <a:t>Sector Explorer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2416" y="248716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54F"/>
                </a:solidFill>
              </a:rPr>
              <a:t>Swipe stocks across 5+ different GICS sectors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33088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2980944"/>
            <a:ext cx="475488" cy="475488"/>
          </a:xfrm>
          <a:prstGeom prst="ellipse">
            <a:avLst/>
          </a:prstGeom>
          <a:solidFill>
            <a:srgbClr val="CEEAD6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2416" y="29809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</a:rPr>
              <a:t>Bull's Eye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2416" y="323697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54F"/>
                </a:solidFill>
              </a:rPr>
              <a:t>Right-swipe beats SPY by &gt;10% in 30 days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4133088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3730752"/>
            <a:ext cx="475488" cy="475488"/>
          </a:xfrm>
          <a:prstGeom prst="ellipse">
            <a:avLst/>
          </a:prstGeom>
          <a:solidFill>
            <a:srgbClr val="C4EEF2"/>
          </a:solidFill>
          <a:ln w="12700">
            <a:solidFill>
              <a:srgbClr val="C4EE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730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2416" y="373075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B83"/>
                </a:solidFill>
              </a:rPr>
              <a:t>Contrarian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42416" y="398678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454F"/>
                </a:solidFill>
              </a:rPr>
              <a:t>Left-swipe a high-score stock that then drops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10789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7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Product KPIs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1426464"/>
            <a:ext cx="40690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73168" y="1426464"/>
            <a:ext cx="91440" cy="5303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4264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F"/>
                </a:solidFill>
              </a:rPr>
              <a:t>DAU / MAU Ratio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99248" y="1536192"/>
            <a:ext cx="1024128" cy="292608"/>
          </a:xfrm>
          <a:prstGeom prst="roundRect">
            <a:avLst>
              <a:gd name="adj" fmla="val 31250"/>
            </a:avLst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153619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3E8"/>
                </a:solidFill>
              </a:rPr>
              <a:t>&gt; 0.35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73168" y="2084832"/>
            <a:ext cx="40690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2084832"/>
            <a:ext cx="9144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0848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F"/>
                </a:solidFill>
              </a:rPr>
              <a:t>Swipes per Session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99248" y="2194560"/>
            <a:ext cx="1024128" cy="292608"/>
          </a:xfrm>
          <a:prstGeom prst="roundRect">
            <a:avLst>
              <a:gd name="adj" fmla="val 31250"/>
            </a:avLst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9248" y="219456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&gt; 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73168" y="2743200"/>
            <a:ext cx="40690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73168" y="2743200"/>
            <a:ext cx="91440" cy="530352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7432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F"/>
                </a:solidFill>
              </a:rPr>
              <a:t>D7 Retention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99248" y="2852928"/>
            <a:ext cx="1024128" cy="292608"/>
          </a:xfrm>
          <a:prstGeom prst="roundRect">
            <a:avLst>
              <a:gd name="adj" fmla="val 31250"/>
            </a:avLst>
          </a:prstGeom>
          <a:solidFill>
            <a:srgbClr val="C4EEF2"/>
          </a:solidFill>
          <a:ln w="12700">
            <a:solidFill>
              <a:srgbClr val="C4EE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99248" y="28529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B83"/>
                </a:solidFill>
              </a:rPr>
              <a:t>&gt; 40%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773168" y="3401568"/>
            <a:ext cx="40690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73168" y="3401568"/>
            <a:ext cx="91440" cy="530352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4015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F"/>
                </a:solidFill>
              </a:rPr>
              <a:t>Hit Rate vs SPY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699248" y="3511296"/>
            <a:ext cx="1024128" cy="292608"/>
          </a:xfrm>
          <a:prstGeom prst="roundRect">
            <a:avLst>
              <a:gd name="adj" fmla="val 31250"/>
            </a:avLst>
          </a:prstGeom>
          <a:solidFill>
            <a:srgbClr val="CEEAD6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9248" y="351129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3E"/>
                </a:solidFill>
              </a:rPr>
              <a:t>&gt; 52%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773168" y="4059936"/>
            <a:ext cx="406908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73168" y="4059936"/>
            <a:ext cx="91440" cy="530352"/>
          </a:xfrm>
          <a:prstGeom prst="rect">
            <a:avLst/>
          </a:prstGeom>
          <a:solidFill>
            <a:srgbClr val="F29900"/>
          </a:solidFill>
          <a:ln w="12700">
            <a:solidFill>
              <a:srgbClr val="F29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40599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B1F"/>
                </a:solidFill>
              </a:rPr>
              <a:t>Model Spearman ρ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699248" y="4169664"/>
            <a:ext cx="1024128" cy="292608"/>
          </a:xfrm>
          <a:prstGeom prst="roundRect">
            <a:avLst>
              <a:gd name="adj" fmla="val 31250"/>
            </a:avLst>
          </a:prstGeom>
          <a:solidFill>
            <a:srgbClr val="FEE8A0"/>
          </a:solidFill>
          <a:ln w="12700">
            <a:solidFill>
              <a:srgbClr val="FEE8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99248" y="416966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00"/>
                </a:solidFill>
              </a:rPr>
              <a:t>&gt; 0.15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7E0EC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9747E"/>
                </a:solidFill>
              </a:rPr>
              <a:t>StockSwipe  ·  Yashika Varshney &amp; Jhanvi Damwani  ·  FA690 Creativity Olympics  ·  May 5,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V2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 already in the backlog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272491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481328"/>
            <a:ext cx="658368" cy="658368"/>
          </a:xfrm>
          <a:prstGeom prst="ellipse">
            <a:avLst/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61872" y="13167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Brokerage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164592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Alpaca paper trading API for live simulated execution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55264" y="1115568"/>
            <a:ext cx="272491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9856" y="1481328"/>
            <a:ext cx="658368" cy="658368"/>
          </a:xfrm>
          <a:prstGeom prst="ellipse">
            <a:avLst/>
          </a:prstGeom>
          <a:solidFill>
            <a:srgbClr val="EDE9FF"/>
          </a:solidFill>
          <a:ln w="12700">
            <a:solidFill>
              <a:srgbClr val="EDE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69664" y="13167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9664" y="164592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Options chain mini-view on swipe-up for power users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115568"/>
            <a:ext cx="272491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1481328"/>
            <a:ext cx="658368" cy="658368"/>
          </a:xfrm>
          <a:prstGeom prst="ellipse">
            <a:avLst/>
          </a:prstGeom>
          <a:solidFill>
            <a:srgbClr val="C4EEF2"/>
          </a:solidFill>
          <a:ln w="12700">
            <a:solidFill>
              <a:srgbClr val="C4EE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77456" y="13167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Swiping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77456" y="164592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See what friends are swiping — with full privacy controls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2852928"/>
            <a:ext cx="272491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2064" y="3218688"/>
            <a:ext cx="658368" cy="658368"/>
          </a:xfrm>
          <a:prstGeom prst="ellipse">
            <a:avLst/>
          </a:prstGeom>
          <a:solidFill>
            <a:srgbClr val="CEEAD6"/>
          </a:solidFill>
          <a:ln w="12700">
            <a:solidFill>
              <a:srgbClr val="CEEA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218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61872" y="30540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 Decks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61872" y="33832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'AI stocks this week' · 'Dividend payers' · 'Earnings plays'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55264" y="2852928"/>
            <a:ext cx="272491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19856" y="3218688"/>
            <a:ext cx="658368" cy="658368"/>
          </a:xfrm>
          <a:prstGeom prst="ellipse">
            <a:avLst/>
          </a:prstGeom>
          <a:solidFill>
            <a:srgbClr val="FEE8A0"/>
          </a:solidFill>
          <a:ln w="12700">
            <a:solidFill>
              <a:srgbClr val="FEE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3218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169664" y="30540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Alerts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69664" y="33832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Push notification when a right-swiped stock has earnings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2852928"/>
            <a:ext cx="272491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7E0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27648" y="3218688"/>
            <a:ext cx="658368" cy="658368"/>
          </a:xfrm>
          <a:prstGeom prst="ellipse">
            <a:avLst/>
          </a:prstGeom>
          <a:solidFill>
            <a:srgbClr val="FAD2CF"/>
          </a:solidFill>
          <a:ln w="12700">
            <a:solidFill>
              <a:srgbClr val="FAD2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218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077456" y="30540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77456" y="33832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454F"/>
                </a:solidFill>
              </a:rPr>
              <a:t>'Tell me about this stock' on hold — LLM-powered explanation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7E0EC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9747E"/>
                </a:solidFill>
              </a:rPr>
              <a:t>StockSwipe  ·  Yashika Varshney &amp; Jhanvi Damwani  ·  FA690 Creativity Olympics  ·  May 5,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02920"/>
            <a:ext cx="7315200" cy="4160520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55600" dist="101600" dir="81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794760" y="859536"/>
            <a:ext cx="201168" cy="20116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97096" y="859536"/>
            <a:ext cx="201168" cy="201168"/>
          </a:xfrm>
          <a:prstGeom prst="ellipse">
            <a:avLst/>
          </a:prstGeom>
          <a:solidFill>
            <a:srgbClr val="F29900"/>
          </a:solidFill>
          <a:ln w="12700">
            <a:solidFill>
              <a:srgbClr val="F2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99432" y="859536"/>
            <a:ext cx="201168" cy="201168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1768" y="859536"/>
            <a:ext cx="201168" cy="20116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23444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StockSwipe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97280" y="199339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 on Your Investments.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2596896"/>
            <a:ext cx="2194560" cy="27432"/>
          </a:xfrm>
          <a:prstGeom prst="rect">
            <a:avLst/>
          </a:prstGeom>
          <a:solidFill>
            <a:srgbClr val="E7E0EC"/>
          </a:solidFill>
          <a:ln w="12700">
            <a:solidFill>
              <a:srgbClr val="E7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6148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Yashika Varshney  ·  Jhanvi Damwani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63240" y="3246120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D2E3FC"/>
          </a:solidFill>
          <a:ln w="12700">
            <a:solidFill>
              <a:srgbClr val="D2E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246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</a:rPr>
              <a:t>🌐  stocks-wipe.vercel.app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7307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9747E"/>
                </a:solidFill>
              </a:rPr>
              <a:t>github.com/Yashika1306/stocks-wipe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44622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FA690 · Creativity Olympics · May 5,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StockSwipe — Creativity Olympics</dc:title>
  <dc:subject>PptxGenJS Presentation</dc:subject>
  <dc:creator>Yashika Varshney &amp; Jhanvi Damwani</dc:creator>
  <cp:lastModifiedBy>Yashika Varshney &amp; Jhanvi Damwani</cp:lastModifiedBy>
  <cp:revision>1</cp:revision>
  <dcterms:created xsi:type="dcterms:W3CDTF">2026-05-03T22:05:13Z</dcterms:created>
  <dcterms:modified xsi:type="dcterms:W3CDTF">2026-05-03T22:05:13Z</dcterms:modified>
</cp:coreProperties>
</file>